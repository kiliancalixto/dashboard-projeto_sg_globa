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06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11680" cy="740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DRE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do Resultado do Exercício  |  SG Global Group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2468880"/>
            <a:ext cx="841248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65760" y="2578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Vinícius Lacerda da Silva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3154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Glaydson Gonçalo dos Santos Almeida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3429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Kilian Israel Feistler Calixto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Anderson Dutra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651760"/>
            <a:ext cx="2560320" cy="10332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" y="48737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de 2026  |  Escola DNC</a:t>
            </a:r>
            <a:endParaRPr lang="en-US" sz="90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97FD4DEB-F480-EE78-0BCC-15769BFEA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813048"/>
            <a:ext cx="2687683" cy="905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empresa e o problema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6868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Empresa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23444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74320" y="1261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🌎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1572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Imigração para os EUA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0" y="123444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468880" y="1261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468880" y="1572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6888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(2 BR, 2 EUA)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123444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663440" y="1261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63440" y="1572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6344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pessoas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58000" y="123444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858000" y="1261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58000" y="1572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5800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Morar EUA + SD América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233172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2743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2697480"/>
            <a:ext cx="8595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457200" y="274320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Mais de 526 contas contábeis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DRE da SG Global possui centenas de linhas em planilha — impossível para a diretoria visualizar resultados rapidamente.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Decisões sem visibilidade clara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um painel unificado, a diretoria não conseguia identificar rapidamente variações de receita, maiores gastos ou evolução do EBITDA.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 Brasil + EUA em moedas diferentes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financeiros estavam separados em duas bases com moedas distintas, sem consolidação.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 dos Resultados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indicadores do período jan/2023 a mar/2024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68680"/>
            <a:ext cx="2651760" cy="10058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91440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$39,12 Mi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" y="14218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54680" y="868680"/>
            <a:ext cx="2651760" cy="10058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154680" y="91440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$37,67 Mi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154680" y="14218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868680"/>
            <a:ext cx="2651760" cy="1005840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035040" y="91440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$25,06 Mi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035040" y="14218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057400"/>
            <a:ext cx="2651760" cy="10058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274320" y="210312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66,51%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74320" y="26106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EBITDA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54680" y="2057400"/>
            <a:ext cx="2651760" cy="10058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154680" y="210312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$6,16 Mi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154680" y="26106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Fixas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35040" y="2057400"/>
            <a:ext cx="2651760" cy="1005840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035040" y="2103120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$25,01 Mi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035040" y="26106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Líquido</a:t>
            </a:r>
            <a:endParaRPr lang="en-US" sz="9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063240"/>
            <a:ext cx="8595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negócio e mapeamento do problema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Objetivo de Negócio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12801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dashboard interativo no Power BI que apresente o DRE da SG Global de forma clara e acessível para a diretoria.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Diretores e heads da empresa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Equipe de FP&amp;A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Gestores sem imersão financeira técnica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154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Perguntas do Negócio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35204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 é a receita bruta e líquida do período?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receita cresceu ou caiu vs. mês anterior?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 é o EBITDA e a margem EBITDA?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Quais são os maiores gastos da empresa?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Como está o resultado por empresa e país?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868680"/>
            <a:ext cx="4206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Plano do Projeto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132588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548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20640" y="1344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 dos dados e do negócio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182880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75488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2064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e exploração das bases de dados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33172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7548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20640" y="2350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Limpeza, transformação e unificação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283464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7548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20640" y="2852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DAX e relacionamentos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333756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75488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20640" y="3355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dos visuais e dashboard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2064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com equipe FP&amp;A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da situação atual da empresa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6868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Encontrada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23444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274320" y="1234440"/>
            <a:ext cx="265176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657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Duas bases de dados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1783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(BRL) e EUA (USD) separadas, sem consolidação. Necessidade de unificação e conversão cambial à taxa de R$ 4,98.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54680" y="123444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154680" y="1234440"/>
            <a:ext cx="2651760" cy="73152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24612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526 contas contábeis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46120" y="1783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contas com hierarquia de até 5 níveis. Necessário mapear contas mãe, filhas e totalizadoras.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123444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Inconsistências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26480" y="1783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categorias sem correspondência no Plano de Contas. Grupos 05 (Depreciação) e 08 (IR &amp; CSLL) sem valores preenchidos.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38328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2743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Tomadas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Unificar as bases BR e EUA em uma única tabela no Power Query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Converter valores do Brasil para dólar usando taxa fixa de R$ 4,98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Remover linhas sem valor (ambos os campos em branco)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Preencher centros de custo vazios com 'Não Informado'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Coleta, exploração e qualidade dos dados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de Dados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170432"/>
            <a:ext cx="2286000" cy="29260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" y="11704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0" y="1170432"/>
            <a:ext cx="2011680" cy="29260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606040" y="1170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1170432"/>
            <a:ext cx="1645920" cy="29260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617720" y="1170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Moeda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1170432"/>
            <a:ext cx="2926080" cy="29260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63640" y="1170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146304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2004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Brasil (DRE-BR)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560320" y="14630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260604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(CSV)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0" y="146304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61772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BRL → USD (÷ 4,98)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17920" y="146304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26364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financeiros BR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1783080"/>
            <a:ext cx="22860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2004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EUA (DRE-US)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60320" y="1783080"/>
            <a:ext cx="20116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260604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(CSV)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0" y="1783080"/>
            <a:ext cx="1645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61772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17920" y="1783080"/>
            <a:ext cx="29260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26364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financeiros EUA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74320" y="210312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32004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Contas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560320" y="21031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26060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(CSV)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0" y="210312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46177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17920" y="210312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/>
          <p:cNvSpPr/>
          <p:nvPr/>
        </p:nvSpPr>
        <p:spPr>
          <a:xfrm>
            <a:off x="626364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 contas contábeis hierárquicas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74320" y="2423160"/>
            <a:ext cx="22860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32004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Calendário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560320" y="2423160"/>
            <a:ext cx="20116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260604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— CALENDAR()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572000" y="2423160"/>
            <a:ext cx="1645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7"/>
          <p:cNvSpPr/>
          <p:nvPr/>
        </p:nvSpPr>
        <p:spPr>
          <a:xfrm>
            <a:off x="4617720" y="2423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217920" y="2423160"/>
            <a:ext cx="29260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626364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Jan/2023 a Dez/2024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1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Dados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74320" y="290779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3"/>
          <p:cNvSpPr/>
          <p:nvPr/>
        </p:nvSpPr>
        <p:spPr>
          <a:xfrm>
            <a:off x="36576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14 categorias sem match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365760" y="31638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 base BR e 10 na base EUA sem correspondência no Plano de Contas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709160" y="290779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4800600" y="2926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Grupos sem dados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4800600" y="31638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05 (Depreciação) e 08 (IR &amp; CSLL) sem valores preenchidos nas bases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4320" y="368503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59"/>
          <p:cNvSpPr/>
          <p:nvPr/>
        </p:nvSpPr>
        <p:spPr>
          <a:xfrm>
            <a:off x="365760" y="3703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126 categorias BR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65760" y="39410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de 126 com correspondência (96,8% de match)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709160" y="368503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2"/>
          <p:cNvSpPr/>
          <p:nvPr/>
        </p:nvSpPr>
        <p:spPr>
          <a:xfrm>
            <a:off x="4800600" y="3703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203 categorias EUA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4800600" y="39410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de 203 com correspondência (95,1% de match)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— Transformação das bases de dados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Transformação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37160" y="1170432"/>
            <a:ext cx="1508760" cy="7772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3716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DRE-BR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(CSV Google Drive)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664208" y="1371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920240" y="1170432"/>
            <a:ext cx="1508760" cy="7772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92024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(CSV Google Drive)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47288" y="1371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703320" y="1170432"/>
            <a:ext cx="1508760" cy="77724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370332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(CSV Google Drive)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30368" y="1371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0" y="1170432"/>
            <a:ext cx="1508760" cy="777240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8640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Unificada DRE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13448" y="1371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69480" y="1170432"/>
            <a:ext cx="1508760" cy="777240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269480" y="1170432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214884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2743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Transformações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2487168"/>
            <a:ext cx="347472" cy="3474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274320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" y="2487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Importação via link direto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017520" y="24871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CSV.Document + Web.Contents com link de download direto do Google Drive — evita o limite de 50 linhas do método HTML.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3063240"/>
            <a:ext cx="347472" cy="3474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27432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cambial BRL → USD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017520" y="306324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colunas Valor recebido e Valor pago divididos por 4,98. Colunas originais removidas e renomeadas.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74320" y="3639312"/>
            <a:ext cx="347472" cy="3474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27432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8580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Unificação das bases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017520" y="363931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Table.Combine({DRE-BR, DRE-US}) gerando uma única tabela consolidada com todos os lançamentos.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4320" y="4215384"/>
            <a:ext cx="347472" cy="3474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27432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85800" y="4215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 limpeza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017520" y="421538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de linhas sem valor (ambos campos null). Centro de custo vazio preenchido com 'Não Informado'.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Contas — Hierarquia e relacionamento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Hierárquica do Plano de Contas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170432"/>
            <a:ext cx="8229600" cy="36576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5760" y="11704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0  |  01  —  Totalizadora Principal (ex: Receita Bruta)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1645920"/>
            <a:ext cx="6858000" cy="36576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65760" y="1645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 |  01.01  —  Subtotalizadora (ex: Receitas no Brasil)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2121408"/>
            <a:ext cx="5486400" cy="365760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65760" y="2121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 |  01.01.01  —  Grupo (ex: Assessoria)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596896"/>
            <a:ext cx="4114800" cy="3657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365760" y="25968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3  |  01.01.01.01  —  Conta Analítica (ex: EB1 - Assessoria no Brasil)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3072384"/>
            <a:ext cx="2743200" cy="3657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65760" y="30723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 |  01.01.01.01.01  —  Conta Analítica Detalhada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361188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2743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entre Tabelas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39502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</a:t>
            </a: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[Categoria]  ↔  </a:t>
            </a: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</a:t>
            </a: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[Categoria_Concatenada]  —  Cardinalidade: Muitos para Um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74320" y="4315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</a:t>
            </a: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[Data de Competência]  ↔  </a:t>
            </a: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dCalendario</a:t>
            </a:r>
            <a:r>
              <a:rPr lang="en-US" sz="12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[Date]  —  Cardinalidade: Muitos para 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DAX — Lógica de cálculo do DRE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somamos tudo diretamente?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170432"/>
            <a:ext cx="8595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DRE contém lançamentos contábeis, transferências, saldos iniciais e movimentações bancárias. Somar tudo geraria um número incorreto. Cada medida filtra apenas as contas do grupo correto usando LEFT(Contas[Categoria_Concatenada], 2) = '01' (por exemplo).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05740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7432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das Medidas DAX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39572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274320" y="2395728"/>
            <a:ext cx="73152" cy="4754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11480" y="24140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26334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SUM(Valor recebido) | Grupo 01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239572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709160" y="2395728"/>
            <a:ext cx="73152" cy="4754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846320" y="24140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6334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Rec. Bruta − Impostos Receita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2962656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274320" y="2962656"/>
            <a:ext cx="73152" cy="47548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11480" y="2980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Fixas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1480" y="32004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SUM(Valor pago) | Grupo 04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09160" y="2962656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4709160" y="2962656"/>
            <a:ext cx="73152" cy="475488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846320" y="2980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2004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− Despesas Fixas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352958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274320" y="3529584"/>
            <a:ext cx="73152" cy="47548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411480" y="3547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EBITDA 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11480" y="37673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DIVIDE(EBITDA, Receita Líquida)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352958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4709160" y="3529584"/>
            <a:ext cx="73152" cy="475488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4846320" y="3547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Líquido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46320" y="37673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 + Res. Financeiro − IR &amp; CSLL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4320" y="4096512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274320" y="4096512"/>
            <a:ext cx="73152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41148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Receita 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11480" y="4334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DIVIDE(Atual − Anterior, Anterior)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09160" y="4096512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3"/>
          <p:cNvSpPr/>
          <p:nvPr/>
        </p:nvSpPr>
        <p:spPr>
          <a:xfrm>
            <a:off x="4709160" y="4096512"/>
            <a:ext cx="73152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484632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DRE (aux.)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846320" y="4334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para gráfico de cascata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modelo de dados no Power BI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188720"/>
            <a:ext cx="2194560" cy="6400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74320" y="1188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DRE-BR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(não carregada)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2194560" cy="6400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7432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(não carregada)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0" y="1600200"/>
            <a:ext cx="2194560" cy="64008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743200" y="1600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(tabela principal)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914400"/>
            <a:ext cx="2194560" cy="64008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486400" y="914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(Plano de Contas)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2377440"/>
            <a:ext cx="2194560" cy="640080"/>
          </a:xfrm>
          <a:prstGeom prst="rect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4864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dCalendario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(tabela de datas)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657600"/>
            <a:ext cx="2194560" cy="64008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48640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ResumoDRE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(auxiliar waterfall)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68880" y="1508760"/>
            <a:ext cx="274320" cy="0"/>
          </a:xfrm>
          <a:prstGeom prst="line">
            <a:avLst/>
          </a:prstGeom>
          <a:noFill/>
          <a:ln w="1905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2468880" y="2514600"/>
            <a:ext cx="274320" cy="0"/>
          </a:xfrm>
          <a:prstGeom prst="line">
            <a:avLst/>
          </a:prstGeom>
          <a:noFill/>
          <a:ln w="1905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937760" y="1920240"/>
            <a:ext cx="548640" cy="0"/>
          </a:xfrm>
          <a:prstGeom prst="line">
            <a:avLst/>
          </a:prstGeom>
          <a:noFill/>
          <a:ln w="1905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937760" y="1920240"/>
            <a:ext cx="548640" cy="777240"/>
          </a:xfrm>
          <a:prstGeom prst="line">
            <a:avLst/>
          </a:prstGeom>
          <a:noFill/>
          <a:ln w="1905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274320" y="3429000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27432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e Colunas Principais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74320" y="37673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DRE:  </a:t>
            </a: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Competência, Categoria, Valor recebido, Valor pago, Empresa, Centro de custo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74320" y="41056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Contas:  </a:t>
            </a: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Conta, Categoria, Categoria_Concatenada, Nível, Conta Mãe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74320" y="44439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dCalendario:  </a:t>
            </a: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Ano, Mes, MesAno, MesAnoNum, NomeMes, Trimestre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DRE e visuais criados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DRE no Dashboard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170432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5760" y="1170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Receita Bruta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$39,12 Mi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55448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Impostos sobre Receita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-$1,45 Mi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1938528"/>
            <a:ext cx="8595360" cy="320040"/>
          </a:xfrm>
          <a:prstGeom prst="rect">
            <a:avLst/>
          </a:prstGeom>
          <a:solidFill>
            <a:srgbClr val="0A2463"/>
          </a:solidFill>
          <a:ln w="635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365760" y="1938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(=) Receita Líquida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$37,67 Mi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322576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65760" y="232257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Custos Operacionais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2322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-$6,45 Mi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706624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365760" y="27066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(-) Despesas Fixas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-$6,16 Mi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3090672"/>
            <a:ext cx="8595360" cy="320040"/>
          </a:xfrm>
          <a:prstGeom prst="rect">
            <a:avLst/>
          </a:prstGeom>
          <a:solidFill>
            <a:srgbClr val="FF4800"/>
          </a:solidFill>
          <a:ln w="635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365760" y="3090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(=) EBITDA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5800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$25,06 Mi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347472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36576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EBITDA 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580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66,51%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3858768"/>
            <a:ext cx="8595360" cy="320040"/>
          </a:xfrm>
          <a:prstGeom prst="rect">
            <a:avLst/>
          </a:prstGeom>
          <a:solidFill>
            <a:srgbClr val="0A2463"/>
          </a:solidFill>
          <a:ln w="635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65760" y="38587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(=) Lucro Líquido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858000" y="3858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$25,01 Mi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dos resultados e revisão do processo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1188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Dashboard interativo com 7 visuais e 3 filtros dinâmicos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15727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Bases Brasil e EUA unificadas e convertidas para USD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195681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17 medidas DAX calculando todas as linhas do DRE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234086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Plano de Contas com 483 linhas relacionado corretamente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27249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Tabela de Calendário para análises temporais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Identidade visual da SG Global aplicada no dashboard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493008"/>
            <a:ext cx="2286000" cy="27432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27432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Atenção Identificados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FFF3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65760" y="38404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Grupos 05 e 08 sem dados — depreciação e IR &amp; CSLL zerados. Pendente verificação com FP&amp;A.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solidFill>
            <a:srgbClr val="FFF3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65760" y="4389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14 categorias sem match no Plano de Contas — dados excluídos da análise. Pendente correção.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4480" y="5029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DRE — Entregável Final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18288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13/15</a:t>
            </a:r>
            <a:endParaRPr lang="en-US" sz="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82296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807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do Projeto — SG Global Group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920240" cy="128016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$39,12 Mi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Total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jan/2023 a mar/2024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42032" y="960120"/>
            <a:ext cx="1920240" cy="128016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42032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$25,06 Mi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42032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Gerado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operacional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18304" y="960120"/>
            <a:ext cx="1920240" cy="128016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18304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8304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EBITDA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8304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operacional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94576" y="960120"/>
            <a:ext cx="1920240" cy="1280160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94576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$25,01 Mi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Líquido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94576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377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Insights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27614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Marketing é o maior centro de custo (42% das despesas fixas — $2,54 Mi)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182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Remuneração PJ + Pro Labore representam $3,0 Mi (49% das despesas fixas)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6027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Pico de receita em fev/2024 com $4,4 Mi — melhor mês do período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023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Receita Bruta 6,4x maior que Despesas Fixas — operação muito eficiente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4439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 Dados consolidados de Brasil e EUA em uma única visão em dólar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"Dados não mentem — quem não os enxerga é que fica no escuro."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4572000" cy="27432"/>
          </a:xfrm>
          <a:prstGeom prst="rect">
            <a:avLst/>
          </a:prstGeom>
          <a:solidFill>
            <a:srgbClr val="FF4800"/>
          </a:solidFill>
          <a:ln w="12700">
            <a:solidFill>
              <a:srgbClr val="FF4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Vinícius Lacerda da Silva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Glaydson Gonçalo dos Santos Almeida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Kilian Israel Feistler Calixto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941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 Dutra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206240"/>
            <a:ext cx="1645920" cy="6035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0F24"/>
          </a:solidFill>
          <a:ln w="12700">
            <a:solidFill>
              <a:srgbClr val="0F0F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274320" y="4974336"/>
            <a:ext cx="6400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 Global Group  |  Dashboard DRE  |  Escola DNC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8412480" y="497433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8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A3DBC6C-2E8D-FABC-FDC7-B4B9487A8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614" y="4057142"/>
            <a:ext cx="1926771" cy="779103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F4A19977-0595-947A-D924-28042EF04502}"/>
              </a:ext>
            </a:extLst>
          </p:cNvPr>
          <p:cNvSpPr/>
          <p:nvPr/>
        </p:nvSpPr>
        <p:spPr>
          <a:xfrm>
            <a:off x="5881552" y="3952917"/>
            <a:ext cx="2619103" cy="9875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2D023C01-77A6-D9EE-93FE-E27FCF9E1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523" y="4066870"/>
            <a:ext cx="2423160" cy="8160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1636</Words>
  <Application>Microsoft Office PowerPoint</Application>
  <PresentationFormat>Apresentação na tela (16:9)</PresentationFormat>
  <Paragraphs>302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DRE — SG Global Group</dc:title>
  <dc:subject>PptxGenJS Presentation</dc:subject>
  <dc:creator>Escola DNC</dc:creator>
  <cp:lastModifiedBy>Anderson Dutra</cp:lastModifiedBy>
  <cp:revision>2</cp:revision>
  <dcterms:created xsi:type="dcterms:W3CDTF">2026-05-11T21:19:48Z</dcterms:created>
  <dcterms:modified xsi:type="dcterms:W3CDTF">2026-05-11T21:28:15Z</dcterms:modified>
</cp:coreProperties>
</file>